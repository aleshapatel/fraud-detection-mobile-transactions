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80" r:id="rId2"/>
    <p:sldId id="256" r:id="rId3"/>
    <p:sldId id="257" r:id="rId4"/>
    <p:sldId id="279" r:id="rId5"/>
    <p:sldId id="261" r:id="rId6"/>
    <p:sldId id="259" r:id="rId7"/>
    <p:sldId id="260" r:id="rId8"/>
    <p:sldId id="262" r:id="rId9"/>
    <p:sldId id="269" r:id="rId10"/>
    <p:sldId id="271" r:id="rId11"/>
    <p:sldId id="272" r:id="rId12"/>
    <p:sldId id="273" r:id="rId13"/>
    <p:sldId id="263" r:id="rId14"/>
    <p:sldId id="264" r:id="rId15"/>
    <p:sldId id="274" r:id="rId16"/>
    <p:sldId id="275" r:id="rId17"/>
    <p:sldId id="265" r:id="rId18"/>
    <p:sldId id="276" r:id="rId19"/>
    <p:sldId id="277" r:id="rId20"/>
    <p:sldId id="278" r:id="rId21"/>
    <p:sldId id="268" r:id="rId22"/>
    <p:sldId id="303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10"/>
  </p:normalViewPr>
  <p:slideViewPr>
    <p:cSldViewPr snapToGrid="0" snapToObjects="1">
      <p:cViewPr>
        <p:scale>
          <a:sx n="79" d="100"/>
          <a:sy n="79" d="100"/>
        </p:scale>
        <p:origin x="1368" y="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4104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1D4C31DA-14CA-CFBA-5089-9BCD0585380D}"/>
              </a:ext>
            </a:extLst>
          </p:cNvPr>
          <p:cNvGrpSpPr/>
          <p:nvPr userDrawn="1"/>
        </p:nvGrpSpPr>
        <p:grpSpPr>
          <a:xfrm>
            <a:off x="-16327" y="0"/>
            <a:ext cx="9160328" cy="5143500"/>
            <a:chOff x="-21770" y="0"/>
            <a:chExt cx="12213771" cy="6858000"/>
          </a:xfrm>
        </p:grpSpPr>
        <p:pic>
          <p:nvPicPr>
            <p:cNvPr id="6" name="Picture 5" descr="Tech Background&quot; Images – Browse 8,227 Stock Photos, Vectors, and Video |  Adobe Stock">
              <a:extLst>
                <a:ext uri="{FF2B5EF4-FFF2-40B4-BE49-F238E27FC236}">
                  <a16:creationId xmlns:a16="http://schemas.microsoft.com/office/drawing/2014/main" id="{912EDB8F-0820-57F6-5CDA-EEB6AC9EF35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52" t="2332" r="1954" b="1250"/>
            <a:stretch>
              <a:fillRect/>
            </a:stretch>
          </p:blipFill>
          <p:spPr bwMode="auto">
            <a:xfrm>
              <a:off x="-21770" y="0"/>
              <a:ext cx="12213771" cy="6858000"/>
            </a:xfrm>
            <a:custGeom>
              <a:avLst/>
              <a:gdLst>
                <a:gd name="connsiteX0" fmla="*/ 0 w 12213771"/>
                <a:gd name="connsiteY0" fmla="*/ 0 h 6858000"/>
                <a:gd name="connsiteX1" fmla="*/ 12213771 w 12213771"/>
                <a:gd name="connsiteY1" fmla="*/ 0 h 6858000"/>
                <a:gd name="connsiteX2" fmla="*/ 12213771 w 12213771"/>
                <a:gd name="connsiteY2" fmla="*/ 6858000 h 6858000"/>
                <a:gd name="connsiteX3" fmla="*/ 0 w 12213771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13771" h="6858000">
                  <a:moveTo>
                    <a:pt x="0" y="0"/>
                  </a:moveTo>
                  <a:lnTo>
                    <a:pt x="12213771" y="0"/>
                  </a:lnTo>
                  <a:lnTo>
                    <a:pt x="12213771" y="6858000"/>
                  </a:lnTo>
                  <a:lnTo>
                    <a:pt x="0" y="6858000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7530BAD-0593-FBF1-1D42-9B72719147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7794" y="913775"/>
              <a:ext cx="5159490" cy="14237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3993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ch Background&quot; Images – Browse 8,227 Stock Photos, Vectors, and Video |  Adobe Stock">
            <a:extLst>
              <a:ext uri="{FF2B5EF4-FFF2-40B4-BE49-F238E27FC236}">
                <a16:creationId xmlns:a16="http://schemas.microsoft.com/office/drawing/2014/main" id="{19625874-6531-A345-C3ED-8BD86E0E30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2" t="2332" r="1954" b="1250"/>
          <a:stretch>
            <a:fillRect/>
          </a:stretch>
        </p:blipFill>
        <p:spPr bwMode="auto">
          <a:xfrm>
            <a:off x="-16327" y="0"/>
            <a:ext cx="9160328" cy="5143500"/>
          </a:xfrm>
          <a:custGeom>
            <a:avLst/>
            <a:gdLst>
              <a:gd name="connsiteX0" fmla="*/ 0 w 12213771"/>
              <a:gd name="connsiteY0" fmla="*/ 0 h 6858000"/>
              <a:gd name="connsiteX1" fmla="*/ 12213771 w 12213771"/>
              <a:gd name="connsiteY1" fmla="*/ 0 h 6858000"/>
              <a:gd name="connsiteX2" fmla="*/ 12213771 w 12213771"/>
              <a:gd name="connsiteY2" fmla="*/ 6858000 h 6858000"/>
              <a:gd name="connsiteX3" fmla="*/ 0 w 122137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3771" h="6858000">
                <a:moveTo>
                  <a:pt x="0" y="0"/>
                </a:moveTo>
                <a:lnTo>
                  <a:pt x="12213771" y="0"/>
                </a:lnTo>
                <a:lnTo>
                  <a:pt x="12213771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 rot="16200000">
            <a:off x="3577999" y="-2219995"/>
            <a:ext cx="1971675" cy="9160328"/>
          </a:xfrm>
        </p:spPr>
        <p:txBody>
          <a:bodyPr vert="eaVert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54276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225F15-9B21-01FF-BD6D-D04F30F7A091}"/>
              </a:ext>
            </a:extLst>
          </p:cNvPr>
          <p:cNvSpPr/>
          <p:nvPr/>
        </p:nvSpPr>
        <p:spPr>
          <a:xfrm>
            <a:off x="1" y="2091217"/>
            <a:ext cx="9144000" cy="6086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b="1" dirty="0">
                <a:latin typeface="Calibri" panose="020F0502020204030204" pitchFamily="34" charset="0"/>
              </a:rPr>
              <a:t>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102433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548640"/>
            <a:ext cx="3474720" cy="3474720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914400"/>
            <a:ext cx="2743200" cy="2743200"/>
          </a:xfrm>
          <a:prstGeom prst="ellipse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1463040"/>
            <a:ext cx="1645920" cy="1645920"/>
          </a:xfrm>
          <a:prstGeom prst="rect">
            <a:avLst/>
          </a:prstGeom>
          <a:solidFill>
            <a:srgbClr val="E63946">
              <a:alpha val="2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🛡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FFFFFF"/>
                </a:solidFill>
              </a:rPr>
              <a:t>FRAUD DETECTION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63946"/>
                </a:solidFill>
              </a:rPr>
              <a:t>in Mobile Financial Transactions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3200400" cy="36576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76272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EE2E6"/>
                </a:solidFill>
              </a:rPr>
              <a:t>"Detecting fraud before it happens is the difference between a secure system and a costly breach."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9AE"/>
                </a:solidFill>
              </a:rPr>
              <a:t>Presented By : ALESHA PATEL |  Fraud Detection ML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411480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502920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11064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38074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9AE"/>
                </a:solidFill>
              </a:rPr>
              <a:t>Fraud in mobile payments, problem statement &amp; dataset overview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411480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11680"/>
            <a:ext cx="502920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5740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4128" y="20665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Exploratory Data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234086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9AE"/>
                </a:solidFill>
              </a:rPr>
              <a:t>Transaction patterns, fraud rates &amp; correlation insights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11480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71800"/>
            <a:ext cx="502920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175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4128" y="30266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330098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9AE"/>
                </a:solidFill>
              </a:rPr>
              <a:t>New features created &amp; encoding of categorical variables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411480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931920"/>
            <a:ext cx="502920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776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4128" y="3986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 Selection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" y="426110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9AE"/>
                </a:solidFill>
              </a:rPr>
              <a:t>5 classifiers: LR, Decision Tree, Random Forest, AdaBoost, XGBoost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1051560"/>
            <a:ext cx="411480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1051560"/>
            <a:ext cx="502920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09728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58968" y="11064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Experimental Results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58968" y="138074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9AE"/>
                </a:solidFill>
              </a:rPr>
              <a:t>Precision, Recall, F1-Score, ROC-AUC comparison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92040" y="2011680"/>
            <a:ext cx="411480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011680"/>
            <a:ext cx="502920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05740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58968" y="20665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 Importance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58968" y="234086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9AE"/>
                </a:solidFill>
              </a:rPr>
              <a:t>Key drivers of fraud detection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2971800"/>
            <a:ext cx="411480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971800"/>
            <a:ext cx="502920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0175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58968" y="30266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Financial Impact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58968" y="330098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9AE"/>
                </a:solidFill>
              </a:rPr>
              <a:t>Revenue saved, losses, investigation cost &amp; net profit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92040" y="3931920"/>
            <a:ext cx="411480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92040" y="3931920"/>
            <a:ext cx="502920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9776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458968" y="3986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58968" y="426110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9AE"/>
                </a:solidFill>
              </a:rPr>
              <a:t>Key findings, limitations &amp; future work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932688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financial fraud</a:t>
            </a: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refers to unauthorized transactions carried out through mobile payment platforms, e-wallets, and digital banking systems. With the rapid rise of cashless transactions, fraudsters exploit TRANSFER and CASH_OUT operations.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builds a complete ML pipeline to detect fraud with high precision and recall, and quantifies the real financial benefit of deploying such a model.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2697480"/>
            <a:ext cx="5230368" cy="2148840"/>
          </a:xfrm>
          <a:prstGeom prst="rect">
            <a:avLst/>
          </a:prstGeom>
          <a:solidFill>
            <a:srgbClr val="EBF0E8"/>
          </a:solidFill>
          <a:ln w="12700">
            <a:solidFill>
              <a:srgbClr val="C5D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Real-World Fraud Problem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" y="312724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$48B+ lost globally to payment fraud in 2023 (Nilson Report)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345643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payment fraud grew 300% since 2019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378561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Traditional rule-based systems miss ~60% of fraud cases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411480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 A new fraud attempt occurs every 14 seconds worldwide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4443984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UPI fraud cases in India tripled between 2021–2024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5000" y="941832"/>
            <a:ext cx="1627632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102412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$48B+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715000" y="1545336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Fraud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(2023)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42670" y="950976"/>
            <a:ext cx="1627632" cy="11430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16368" y="100863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516368" y="1572768"/>
            <a:ext cx="15048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Mobile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Since 2019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15000" y="2164876"/>
            <a:ext cx="1627632" cy="1143000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51985" y="2245057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751985" y="2759577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Missed by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42670" y="2164023"/>
            <a:ext cx="1627632" cy="11430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479655" y="2240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sec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505723" y="2777524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Each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Attempt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32742" y="3383280"/>
            <a:ext cx="33375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4564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Risk Profile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99632" y="3767328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7376" y="37307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   →   Fraud Risk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99632" y="4069080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37376" y="40325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CASH_OUT   →   Fraud Risk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99632" y="4370832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37376" y="43342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PAYMENT, CASH_IN, DEBIT  →  Safe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COLLECTION &amp;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840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38404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326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📁  Dataset Information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3840480" cy="30175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9961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Dataset Name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1499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Fraud Analysis Dataset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764792"/>
            <a:ext cx="3840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013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Total Records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18013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11,142 transactions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66544"/>
            <a:ext cx="3840480" cy="30175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031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Features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21031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11 columns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368296"/>
            <a:ext cx="3840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048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Target Variable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24048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isFraud (0 = Legit, 1 = Fraud)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670048"/>
            <a:ext cx="3840480" cy="30175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066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Fraud Count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27066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~1,142 fraudulent records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971800"/>
            <a:ext cx="3840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0083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Fraud Rate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11680" y="30083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~10.25% 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273552"/>
            <a:ext cx="3840480" cy="30175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3101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Test Split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11680" y="33101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80% Train / 20% Test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0" y="914400"/>
            <a:ext cx="44805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93268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Features &amp; Target Variable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0" y="1463040"/>
            <a:ext cx="4480560" cy="34747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98848" y="1508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step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15087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Transaction time step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89120" y="1810512"/>
            <a:ext cx="44805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98848" y="1856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type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18562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TRANSFER / CASH_OUT / PAYMENT…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89120" y="2157984"/>
            <a:ext cx="4480560" cy="34747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98848" y="22037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amount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72200" y="22037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Transaction amount (USD)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89120" y="2505456"/>
            <a:ext cx="44805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98848" y="25511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oldbalanceOrg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72200" y="25511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Sender balance before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389120" y="2852928"/>
            <a:ext cx="4480560" cy="34747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98848" y="2898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newbalanceOrig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72200" y="28986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Sender balance after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389120" y="3200400"/>
            <a:ext cx="44805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98848" y="3246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oldbalanceDest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72200" y="32461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Receiver balance before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389120" y="3547872"/>
            <a:ext cx="4480560" cy="34747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98848" y="3593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newbalanceDest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172200" y="35935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Receiver balance after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389120" y="3895344"/>
            <a:ext cx="4480560" cy="347472"/>
          </a:xfrm>
          <a:prstGeom prst="rect">
            <a:avLst/>
          </a:prstGeom>
          <a:solidFill>
            <a:srgbClr val="FFF0F0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98848" y="39410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</a:rPr>
              <a:t>isFraud ✦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172200" y="39410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TARGET: 1=Fraud, 0=Legit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OBJECTIVES &amp; VALUE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966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Detect Fraud Early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37160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Identify fraudulent transactions before financial loss occurs using ML classifiers.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960120"/>
            <a:ext cx="27432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9966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Compare Algorithms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82696" y="137160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Evaluate 5 ML models and select the best performer using precision, recall &amp; ROC-AUC.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71616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960120"/>
            <a:ext cx="27432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9966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💰 Financial Impact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1344" y="137160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Quantify money saved vs losses vs cost — turning ML metrics into business value.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834640"/>
            <a:ext cx="2743200" cy="34747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712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Understand Fraud Patterns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24612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Use EDA &amp; feature importance to reveal what distinguishes fraud from legitimate transactions.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72968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2834640"/>
            <a:ext cx="2743200" cy="34747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28712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Feature Engineering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82696" y="324612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Create meaningful derived features that boost model detection capability.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71616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1616" y="2834640"/>
            <a:ext cx="2743200" cy="34747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28712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🚀 Production Readiness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81344" y="324612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Recommend the best model with rationale for real-world 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PROJECT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5568" y="1874520"/>
            <a:ext cx="338328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188720"/>
            <a:ext cx="914400" cy="9144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Loading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5448" y="2880360"/>
            <a:ext cx="1005840" cy="1691640"/>
          </a:xfrm>
          <a:prstGeom prst="rect">
            <a:avLst/>
          </a:prstGeom>
          <a:solidFill>
            <a:srgbClr val="1B2A3B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2907792"/>
            <a:ext cx="978408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EE2E6"/>
                </a:solidFill>
              </a:rPr>
              <a:t>Load CSV &amp; inspect shape, columns, data types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68296" y="1874520"/>
            <a:ext cx="338328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53896" y="1188720"/>
            <a:ext cx="914400" cy="9144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53896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62456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EDA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08176" y="2880360"/>
            <a:ext cx="1005840" cy="1691640"/>
          </a:xfrm>
          <a:prstGeom prst="rect">
            <a:avLst/>
          </a:prstGeom>
          <a:solidFill>
            <a:srgbClr val="1B2A3B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35608" y="2907792"/>
            <a:ext cx="978408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EE2E6"/>
                </a:solidFill>
              </a:rPr>
              <a:t>Visualize fraud rates, distributions, heatmap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21024" y="1874520"/>
            <a:ext cx="338328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06624" y="1188720"/>
            <a:ext cx="914400" cy="9144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06624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615184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Engineer.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60904" y="2880360"/>
            <a:ext cx="1005840" cy="1691640"/>
          </a:xfrm>
          <a:prstGeom prst="rect">
            <a:avLst/>
          </a:prstGeom>
          <a:solidFill>
            <a:srgbClr val="1B2A3B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88336" y="2907792"/>
            <a:ext cx="978408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EE2E6"/>
                </a:solidFill>
              </a:rPr>
              <a:t>Create balance diff features + One-Hot Encode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73752" y="1874520"/>
            <a:ext cx="338328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59352" y="1188720"/>
            <a:ext cx="914400" cy="9144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959352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867912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Train/Test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Split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13632" y="2880360"/>
            <a:ext cx="1005840" cy="1691640"/>
          </a:xfrm>
          <a:prstGeom prst="rect">
            <a:avLst/>
          </a:prstGeom>
          <a:solidFill>
            <a:srgbClr val="1B2A3B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41064" y="2907792"/>
            <a:ext cx="978408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EE2E6"/>
                </a:solidFill>
              </a:rPr>
              <a:t>80/20 stratified split preserving fraud ratio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26480" y="1874520"/>
            <a:ext cx="338328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12080" y="1188720"/>
            <a:ext cx="914400" cy="9144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21208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120640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66360" y="2880360"/>
            <a:ext cx="1005840" cy="1691640"/>
          </a:xfrm>
          <a:prstGeom prst="rect">
            <a:avLst/>
          </a:prstGeom>
          <a:solidFill>
            <a:srgbClr val="1B2A3B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93792" y="2907792"/>
            <a:ext cx="978408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EE2E6"/>
                </a:solidFill>
              </a:rPr>
              <a:t>Fit 5 classifiers on training data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379208" y="1874520"/>
            <a:ext cx="338328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64808" y="1188720"/>
            <a:ext cx="914400" cy="9144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6480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373368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Evaluate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19088" y="2880360"/>
            <a:ext cx="1005840" cy="1691640"/>
          </a:xfrm>
          <a:prstGeom prst="rect">
            <a:avLst/>
          </a:prstGeom>
          <a:solidFill>
            <a:srgbClr val="1B2A3B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2907792"/>
            <a:ext cx="978408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EE2E6"/>
                </a:solidFill>
              </a:rPr>
              <a:t>Precision, Recall, F1, ROC-AUC, Confusion Matrix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717536" y="1188720"/>
            <a:ext cx="914400" cy="9144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717536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07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626096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Financial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Analysis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671816" y="2880360"/>
            <a:ext cx="1005840" cy="1691640"/>
          </a:xfrm>
          <a:prstGeom prst="rect">
            <a:avLst/>
          </a:prstGeom>
          <a:solidFill>
            <a:srgbClr val="1B2A3B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99248" y="2907792"/>
            <a:ext cx="978408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EE2E6"/>
                </a:solidFill>
              </a:rPr>
              <a:t>Calculate money saved, lost, net profit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EXPLORATORY DATA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</a:rPr>
              <a:t>EDA helped us understand transaction patterns, identify fraud indicators, and uncover relationships between features. We analyzed fraud distribution, transaction type patterns, amount distributions, and feature correlations.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920240"/>
            <a:ext cx="502920" cy="5029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Class Imbalance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1031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Fraudulent transactions are a tiny minority (~0.13%). Stratified splitting was used to preserve the fraud ratio in train/test sets.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69164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1920240"/>
            <a:ext cx="502920" cy="5029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21808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Transaction Types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21808" y="21031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Only TRANSFER and CASH_OUT types contain fraudulent activity. PAYMENT, CASH_IN, and DEBIT are completely fraud-free.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24612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474720"/>
            <a:ext cx="502920" cy="50292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💲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4128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Amount Distribution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3657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Fraudulent transactions tend to involve larger amounts. The distribution is right-skewed with some very high-value fraud cases.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24612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81728" y="3474720"/>
            <a:ext cx="502920" cy="50292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21808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Correlation Heatmap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21808" y="3657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balance_diff_orig (how much sender lost) showed the strongest correlation with fraud — the key signal for detection.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</p:spPr>
      </p:sp>
      <p:sp>
        <p:nvSpPr>
          <p:cNvPr id="3" name="TopBar"/>
          <p:cNvSpPr/>
          <p:nvPr/>
        </p:nvSpPr>
        <p:spPr>
          <a:xfrm>
            <a:off x="109728" y="0"/>
            <a:ext cx="9034272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</a:ln>
        </p:spPr>
      </p:sp>
      <p:sp>
        <p:nvSpPr>
          <p:cNvPr id="4" name="TitleText"/>
          <p:cNvSpPr/>
          <p:nvPr/>
        </p:nvSpPr>
        <p:spPr>
          <a:xfrm>
            <a:off x="228600" y="91440"/>
            <a:ext cx="8800000" cy="54864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</a:rPr>
              <a:t>Fraud vs. Legitimate Distribution</a:t>
            </a:r>
          </a:p>
        </p:txBody>
      </p:sp>
      <p:pic>
        <p:nvPicPr>
          <p:cNvPr id="5" name="Graph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5400000" cy="4000000"/>
          </a:xfrm>
          <a:prstGeom prst="rect">
            <a:avLst/>
          </a:prstGeom>
        </p:spPr>
      </p:pic>
      <p:sp>
        <p:nvSpPr>
          <p:cNvPr id="6" name="ExplanationBox"/>
          <p:cNvSpPr/>
          <p:nvPr/>
        </p:nvSpPr>
        <p:spPr>
          <a:xfrm>
            <a:off x="5852000" y="777240"/>
            <a:ext cx="3150000" cy="40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</a:ln>
        </p:spPr>
        <p:txBody>
          <a:bodyPr wrap="square" lIns="182880" tIns="182880" rIns="182880" bIns="182880" anchor="t"/>
          <a:lstStyle/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E63946"/>
                </a:solidFill>
              </a:rPr>
              <a:t>Key Insights</a:t>
            </a:r>
          </a:p>
          <a:p>
            <a:pPr algn="l">
              <a:spcBef>
                <a:spcPts val="200"/>
              </a:spcBef>
            </a:pPr>
            <a:r>
              <a:rPr lang="en-US" sz="200" dirty="0">
                <a:solidFill>
                  <a:srgbClr val="FFFFFF"/>
                </a:solidFill>
              </a:rPr>
              <a:t> 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The dataset is highly imbalanced: only 10.2% of transactions are fraudulent,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while 89.8% are legitimate. The pie chart and bar chart together confirm this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class imbalance, which is why models need careful tuning of precision and recall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rather than relying solely on accuracy as a performance metric.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</p:spPr>
      </p:sp>
      <p:sp>
        <p:nvSpPr>
          <p:cNvPr id="3" name="TopBar"/>
          <p:cNvSpPr/>
          <p:nvPr/>
        </p:nvSpPr>
        <p:spPr>
          <a:xfrm>
            <a:off x="109728" y="0"/>
            <a:ext cx="9034272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</a:ln>
        </p:spPr>
      </p:sp>
      <p:sp>
        <p:nvSpPr>
          <p:cNvPr id="4" name="TitleText"/>
          <p:cNvSpPr/>
          <p:nvPr/>
        </p:nvSpPr>
        <p:spPr>
          <a:xfrm>
            <a:off x="228600" y="91440"/>
            <a:ext cx="8800000" cy="54864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</a:rPr>
              <a:t>Transaction Type &amp; Fraud Rate by Type</a:t>
            </a:r>
          </a:p>
        </p:txBody>
      </p:sp>
      <p:pic>
        <p:nvPicPr>
          <p:cNvPr id="5" name="Graph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5400000" cy="4000000"/>
          </a:xfrm>
          <a:prstGeom prst="rect">
            <a:avLst/>
          </a:prstGeom>
        </p:spPr>
      </p:pic>
      <p:sp>
        <p:nvSpPr>
          <p:cNvPr id="6" name="ExplanationBox"/>
          <p:cNvSpPr/>
          <p:nvPr/>
        </p:nvSpPr>
        <p:spPr>
          <a:xfrm>
            <a:off x="5852000" y="777240"/>
            <a:ext cx="3150000" cy="40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</a:ln>
        </p:spPr>
        <p:txBody>
          <a:bodyPr wrap="square" lIns="182880" tIns="182880" rIns="182880" bIns="182880" anchor="t"/>
          <a:lstStyle/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E63946"/>
                </a:solidFill>
              </a:rPr>
              <a:t>Key Insights</a:t>
            </a:r>
          </a:p>
          <a:p>
            <a:pPr algn="l">
              <a:spcBef>
                <a:spcPts val="200"/>
              </a:spcBef>
            </a:pPr>
            <a:r>
              <a:rPr lang="en-US" sz="200" dirty="0">
                <a:solidFill>
                  <a:srgbClr val="FFFFFF"/>
                </a:solidFill>
              </a:rPr>
              <a:t> 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PAYMENT is the most frequent transaction type, but it carries zero fraud.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TRANSFER and CASH_OUT are the only two types that contain fraudulent activity,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with TRANSFER reaching ~38% fraud rate and CASH_OUT ~31%. This insight drives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the decision to focus fraud detection exclusively on these two types.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</p:spPr>
      </p:sp>
      <p:sp>
        <p:nvSpPr>
          <p:cNvPr id="3" name="TopBar"/>
          <p:cNvSpPr/>
          <p:nvPr/>
        </p:nvSpPr>
        <p:spPr>
          <a:xfrm>
            <a:off x="109728" y="0"/>
            <a:ext cx="9034272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</a:ln>
        </p:spPr>
      </p:sp>
      <p:sp>
        <p:nvSpPr>
          <p:cNvPr id="4" name="TitleText"/>
          <p:cNvSpPr/>
          <p:nvPr/>
        </p:nvSpPr>
        <p:spPr>
          <a:xfrm>
            <a:off x="228600" y="91440"/>
            <a:ext cx="8800000" cy="54864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</a:rPr>
              <a:t>Transaction Amount Distribution</a:t>
            </a:r>
          </a:p>
        </p:txBody>
      </p:sp>
      <p:pic>
        <p:nvPicPr>
          <p:cNvPr id="5" name="Graph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5400000" cy="4000000"/>
          </a:xfrm>
          <a:prstGeom prst="rect">
            <a:avLst/>
          </a:prstGeom>
        </p:spPr>
      </p:pic>
      <p:sp>
        <p:nvSpPr>
          <p:cNvPr id="6" name="ExplanationBox"/>
          <p:cNvSpPr/>
          <p:nvPr/>
        </p:nvSpPr>
        <p:spPr>
          <a:xfrm>
            <a:off x="5852000" y="777240"/>
            <a:ext cx="3150000" cy="40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</a:ln>
        </p:spPr>
        <p:txBody>
          <a:bodyPr wrap="square" lIns="182880" tIns="182880" rIns="182880" bIns="182880" anchor="t"/>
          <a:lstStyle/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E63946"/>
                </a:solidFill>
              </a:rPr>
              <a:t>Key Insights</a:t>
            </a:r>
          </a:p>
          <a:p>
            <a:pPr algn="l">
              <a:spcBef>
                <a:spcPts val="200"/>
              </a:spcBef>
            </a:pPr>
            <a:r>
              <a:rPr lang="en-US" sz="200" dirty="0">
                <a:solidFill>
                  <a:srgbClr val="FFFFFF"/>
                </a:solidFill>
              </a:rPr>
              <a:t> 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Legitimate transactions cluster at lower amounts (below 10,000), showing a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right-skewed distribution. Fraudulent transactions are more evenly spread and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concentrate at higher amounts (near the 50,000 clip limit). This suggests that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unusually large transfer amounts are a strong signal for fraud.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</p:spPr>
      </p:sp>
      <p:sp>
        <p:nvSpPr>
          <p:cNvPr id="3" name="TopBar"/>
          <p:cNvSpPr/>
          <p:nvPr/>
        </p:nvSpPr>
        <p:spPr>
          <a:xfrm>
            <a:off x="109728" y="0"/>
            <a:ext cx="9034272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</a:ln>
        </p:spPr>
      </p:sp>
      <p:sp>
        <p:nvSpPr>
          <p:cNvPr id="4" name="TitleText"/>
          <p:cNvSpPr/>
          <p:nvPr/>
        </p:nvSpPr>
        <p:spPr>
          <a:xfrm>
            <a:off x="228600" y="91440"/>
            <a:ext cx="8800000" cy="54864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</a:rPr>
              <a:t>Feature Correlation Heatmap</a:t>
            </a:r>
          </a:p>
        </p:txBody>
      </p:sp>
      <p:pic>
        <p:nvPicPr>
          <p:cNvPr id="5" name="Graph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5400000" cy="4000000"/>
          </a:xfrm>
          <a:prstGeom prst="rect">
            <a:avLst/>
          </a:prstGeom>
        </p:spPr>
      </p:pic>
      <p:sp>
        <p:nvSpPr>
          <p:cNvPr id="6" name="ExplanationBox"/>
          <p:cNvSpPr/>
          <p:nvPr/>
        </p:nvSpPr>
        <p:spPr>
          <a:xfrm>
            <a:off x="5852000" y="777240"/>
            <a:ext cx="3150000" cy="40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</a:ln>
        </p:spPr>
        <p:txBody>
          <a:bodyPr wrap="square" lIns="182880" tIns="182880" rIns="182880" bIns="182880" anchor="t"/>
          <a:lstStyle/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E63946"/>
                </a:solidFill>
              </a:rPr>
              <a:t>Key Insights</a:t>
            </a:r>
          </a:p>
          <a:p>
            <a:pPr algn="l">
              <a:spcBef>
                <a:spcPts val="200"/>
              </a:spcBef>
            </a:pPr>
            <a:r>
              <a:rPr lang="en-US" sz="200" dirty="0">
                <a:solidFill>
                  <a:srgbClr val="FFFFFF"/>
                </a:solidFill>
              </a:rPr>
              <a:t> 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The heatmap reveals strong correlations: 'step' has a high positive correlation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with isFraud (0.83), and 'amount' also correlates moderately (0.44). Balance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features (oldbalanceOrg / newbalanceOrig) are highly correlated with each other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(0.94) but weakly tied to fraud — confirming the value of engineered features.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FEATURE ENGINEERING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508760"/>
            <a:ext cx="54864" cy="7315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3212" y="13990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balance_diff_orig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53212" y="1647087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57B9D"/>
                </a:solidFill>
              </a:rPr>
              <a:t>Formula: oldbalanceOrg − newbalanceOrig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3212" y="181051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How much money the SENDER lost. Strongest fraud signal.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880360"/>
            <a:ext cx="384048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426565"/>
            <a:ext cx="45719" cy="682395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" y="239378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balance_diff_dest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56811" y="26060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57B9D"/>
                </a:solidFill>
              </a:rPr>
              <a:t>Formula: newbalanceDest − oldbalanceDest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9496" y="2769465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How much money the RECEIVER gained. Flags unusual gains.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914400"/>
            <a:ext cx="4251960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914400"/>
            <a:ext cx="4251960" cy="45720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93268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🔢  One-Hot Encoding: 'type'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18888" y="1324615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The transaction type is a categorical variable with 5 values. One-Hot Encoding converts it into binary columns (dropping the first to avoid multicollinearity):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2377440"/>
            <a:ext cx="3977640" cy="384048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4608" y="2029968"/>
            <a:ext cx="201168" cy="201168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38928" y="19933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type_CASH_OUT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2816352"/>
            <a:ext cx="3977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64608" y="2376807"/>
            <a:ext cx="201168" cy="201168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148850" y="23338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type_DEBIT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18888" y="3069466"/>
            <a:ext cx="3977640" cy="384048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68694" y="2695827"/>
            <a:ext cx="201168" cy="201168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272783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type_PAYMENT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64608" y="3010031"/>
            <a:ext cx="201168" cy="201168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143014" y="2944855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type_TRANSFER</a:t>
            </a:r>
            <a:endParaRPr lang="en-US" sz="1050" dirty="0"/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AE07A12D-81AE-45E0-B0E6-D063011877E1}"/>
              </a:ext>
            </a:extLst>
          </p:cNvPr>
          <p:cNvSpPr/>
          <p:nvPr/>
        </p:nvSpPr>
        <p:spPr>
          <a:xfrm>
            <a:off x="356616" y="3445148"/>
            <a:ext cx="8421624" cy="1548935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C25CE02D-ED18-412E-96FB-99F55F594BA6}"/>
              </a:ext>
            </a:extLst>
          </p:cNvPr>
          <p:cNvSpPr/>
          <p:nvPr/>
        </p:nvSpPr>
        <p:spPr>
          <a:xfrm>
            <a:off x="320040" y="3416986"/>
            <a:ext cx="8595360" cy="4572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0" name="Shape 7">
            <a:extLst>
              <a:ext uri="{FF2B5EF4-FFF2-40B4-BE49-F238E27FC236}">
                <a16:creationId xmlns:a16="http://schemas.microsoft.com/office/drawing/2014/main" id="{27E6ED66-8417-4E17-AB4F-F3509FB7776F}"/>
              </a:ext>
            </a:extLst>
          </p:cNvPr>
          <p:cNvSpPr/>
          <p:nvPr/>
        </p:nvSpPr>
        <p:spPr>
          <a:xfrm>
            <a:off x="517610" y="4017134"/>
            <a:ext cx="54864" cy="73152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12871541-43E3-4128-B26A-7586FBC4D38F}"/>
              </a:ext>
            </a:extLst>
          </p:cNvPr>
          <p:cNvSpPr/>
          <p:nvPr/>
        </p:nvSpPr>
        <p:spPr>
          <a:xfrm>
            <a:off x="4663440" y="4007066"/>
            <a:ext cx="54864" cy="73152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4BE8B6A8-D340-4CC1-BF30-ABFB3CDA4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050" y="3984128"/>
            <a:ext cx="466927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Separated the dataset into: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Input Features (X)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transaction-related attributes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Target Variable (y)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isFraud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 the dataset into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Data (80%)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Data (20%)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     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train_test_split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" name="Rectangle 6">
            <a:extLst>
              <a:ext uri="{FF2B5EF4-FFF2-40B4-BE49-F238E27FC236}">
                <a16:creationId xmlns:a16="http://schemas.microsoft.com/office/drawing/2014/main" id="{6F572960-387E-47CF-9F9C-0877D05BA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884" y="3809935"/>
            <a:ext cx="4197096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stratify=y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maintain equal fraud/non-fraud class distribution in both training and testing sets. 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random state=42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ensure reproducible results during model training.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1B7D53A2-3BFC-449D-B288-4BFEF1202AF3}"/>
              </a:ext>
            </a:extLst>
          </p:cNvPr>
          <p:cNvSpPr/>
          <p:nvPr/>
        </p:nvSpPr>
        <p:spPr>
          <a:xfrm>
            <a:off x="443484" y="948447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Engineered Features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8388" y="3423457"/>
            <a:ext cx="4373654" cy="442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 Test Split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SELECTION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</a:rPr>
              <a:t>5 classifiers were evaluated to find the best fraud detector. Each brings different strengths: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67512" y="1463040"/>
            <a:ext cx="914400" cy="9144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Logistic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Regression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3017520"/>
            <a:ext cx="1645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3017520"/>
            <a:ext cx="1645920" cy="54864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3090672"/>
            <a:ext cx="149961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Linear baseline model. Uses a sigmoid function to output fraud probability. Fast and interpretable but limited by linear decision boundaries.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04872" y="1463040"/>
            <a:ext cx="914400" cy="914400"/>
          </a:xfrm>
          <a:prstGeom prst="ellipse">
            <a:avLst/>
          </a:prstGeom>
          <a:solidFill>
            <a:srgbClr val="5C7A3E"/>
          </a:solidFill>
          <a:ln w="12700">
            <a:solidFill>
              <a:srgbClr val="5C7A3E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04872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84832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Decision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Tree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93392" y="3017520"/>
            <a:ext cx="1645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93392" y="3017520"/>
            <a:ext cx="1645920" cy="54864"/>
          </a:xfrm>
          <a:prstGeom prst="rect">
            <a:avLst/>
          </a:prstGeom>
          <a:solidFill>
            <a:srgbClr val="5C7A3E"/>
          </a:solidFill>
          <a:ln w="12700">
            <a:solidFill>
              <a:srgbClr val="5C7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66544" y="3090672"/>
            <a:ext cx="149961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Rule-based model that splits data by features. Easy to visualize but prone to overfitting without pruning.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42232" y="1463040"/>
            <a:ext cx="914400" cy="914400"/>
          </a:xfrm>
          <a:prstGeom prst="ellipse">
            <a:avLst/>
          </a:prstGeom>
          <a:solidFill>
            <a:srgbClr val="6B4C9A"/>
          </a:solidFill>
          <a:ln w="12700">
            <a:solidFill>
              <a:srgbClr val="6B4C9A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42232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22192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Random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Forest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30752" y="3017520"/>
            <a:ext cx="1645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30752" y="3017520"/>
            <a:ext cx="1645920" cy="54864"/>
          </a:xfrm>
          <a:prstGeom prst="rect">
            <a:avLst/>
          </a:prstGeom>
          <a:solidFill>
            <a:srgbClr val="6B4C9A"/>
          </a:solidFill>
          <a:ln w="12700">
            <a:solidFill>
              <a:srgbClr val="6B4C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03904" y="3090672"/>
            <a:ext cx="149961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Ensemble of 100 trees. Reduces overfitting through aggregation. Strong recall, good for imbalanced data.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79592" y="1463040"/>
            <a:ext cx="914400" cy="9144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79592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ADA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59552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AdaBoost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68112" y="3017520"/>
            <a:ext cx="1645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68112" y="3017520"/>
            <a:ext cx="164592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41264" y="3090672"/>
            <a:ext cx="149961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Boosting method: focuses on samples misclassified by previous models. Sequentially improves weak learners.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616952" y="1463040"/>
            <a:ext cx="914400" cy="9144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16952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XGB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96912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XGBoost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205472" y="3017520"/>
            <a:ext cx="1645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05472" y="3017520"/>
            <a:ext cx="164592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78624" y="3090672"/>
            <a:ext cx="149961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Gradient boosting with regularization. Best performer on tabular data. Achieved near-perfect ROC-AUC = 1.0000.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</p:spPr>
      </p:sp>
      <p:sp>
        <p:nvSpPr>
          <p:cNvPr id="3" name="TopBar"/>
          <p:cNvSpPr/>
          <p:nvPr/>
        </p:nvSpPr>
        <p:spPr>
          <a:xfrm>
            <a:off x="109728" y="0"/>
            <a:ext cx="9034272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</a:ln>
        </p:spPr>
      </p:sp>
      <p:sp>
        <p:nvSpPr>
          <p:cNvPr id="4" name="TitleText"/>
          <p:cNvSpPr/>
          <p:nvPr/>
        </p:nvSpPr>
        <p:spPr>
          <a:xfrm>
            <a:off x="228600" y="91440"/>
            <a:ext cx="8800000" cy="54864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</a:rPr>
              <a:t>Confusion Matrices — All 5 Models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5852000" y="777240"/>
            <a:ext cx="3150000" cy="40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</a:ln>
        </p:spPr>
        <p:txBody>
          <a:bodyPr wrap="square" lIns="182880" tIns="182880" rIns="182880" bIns="182880" anchor="t"/>
          <a:lstStyle/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E63946"/>
                </a:solidFill>
              </a:rPr>
              <a:t>Key Insights</a:t>
            </a:r>
          </a:p>
          <a:p>
            <a:pPr algn="l">
              <a:spcBef>
                <a:spcPts val="200"/>
              </a:spcBef>
            </a:pPr>
            <a:r>
              <a:rPr lang="en-US" sz="200" dirty="0">
                <a:solidFill>
                  <a:srgbClr val="FFFFFF"/>
                </a:solidFill>
              </a:rPr>
              <a:t> 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Across all five models, false negatives (missed frauds) are the key metric.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Logistic Regression misses 23 frauds; XGBoost misses only 4 — the best result.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All models achieve near-perfect true-negative rates (flagging almost no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legitimate transactions as fraud), indicating very low false-positive cost.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4007AF-7B35-4BFD-8561-5F3C76DED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785" y="731520"/>
            <a:ext cx="2791215" cy="2896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A11141-4B0D-47F3-A0C3-3EA2526DE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965151"/>
            <a:ext cx="3771807" cy="19771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79852E-8729-4CED-8494-8B5E094ED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5492" y="1057540"/>
            <a:ext cx="2146508" cy="18847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CB4A0F-C897-4333-A947-2E8D12DEDC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378" y="3039006"/>
            <a:ext cx="4202051" cy="22786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</p:spPr>
      </p:sp>
      <p:sp>
        <p:nvSpPr>
          <p:cNvPr id="3" name="TopBar"/>
          <p:cNvSpPr/>
          <p:nvPr/>
        </p:nvSpPr>
        <p:spPr>
          <a:xfrm>
            <a:off x="109728" y="0"/>
            <a:ext cx="9034272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</a:ln>
        </p:spPr>
      </p:sp>
      <p:sp>
        <p:nvSpPr>
          <p:cNvPr id="4" name="TitleText"/>
          <p:cNvSpPr/>
          <p:nvPr/>
        </p:nvSpPr>
        <p:spPr>
          <a:xfrm>
            <a:off x="228600" y="91440"/>
            <a:ext cx="8800000" cy="54864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</a:rPr>
              <a:t>ROC Curve Comparison — All Models</a:t>
            </a:r>
          </a:p>
        </p:txBody>
      </p:sp>
      <p:pic>
        <p:nvPicPr>
          <p:cNvPr id="5" name="Graph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5400000" cy="4000000"/>
          </a:xfrm>
          <a:prstGeom prst="rect">
            <a:avLst/>
          </a:prstGeom>
        </p:spPr>
      </p:pic>
      <p:sp>
        <p:nvSpPr>
          <p:cNvPr id="6" name="ExplanationBox"/>
          <p:cNvSpPr/>
          <p:nvPr/>
        </p:nvSpPr>
        <p:spPr>
          <a:xfrm>
            <a:off x="5852000" y="777240"/>
            <a:ext cx="3150000" cy="40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</a:ln>
        </p:spPr>
        <p:txBody>
          <a:bodyPr wrap="square" lIns="182880" tIns="182880" rIns="182880" bIns="182880" anchor="t"/>
          <a:lstStyle/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E63946"/>
                </a:solidFill>
              </a:rPr>
              <a:t>Key Insights</a:t>
            </a:r>
          </a:p>
          <a:p>
            <a:pPr algn="l">
              <a:spcBef>
                <a:spcPts val="200"/>
              </a:spcBef>
            </a:pPr>
            <a:r>
              <a:rPr lang="en-US" sz="200" dirty="0">
                <a:solidFill>
                  <a:srgbClr val="FFFFFF"/>
                </a:solidFill>
              </a:rPr>
              <a:t> 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All five models achieve exceptionally high AUC scores. XGBoost reaches a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perfect AUC of 1.0000, Random Forest scores 0.9999, and AdaBoost 0.9994.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Even Logistic Regression achieves 0.9912. The tight clustering near the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top-left corner confirms strong discriminative ability across all models.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EXPERIMENTAL RESULTS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558510"/>
              </p:ext>
            </p:extLst>
          </p:nvPr>
        </p:nvGraphicFramePr>
        <p:xfrm>
          <a:off x="274320" y="960120"/>
          <a:ext cx="8595360" cy="257860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 (%)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 (%)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F1-Score (%)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 (%)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</a:rPr>
                        <a:t>XGBoost ⭐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98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99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99.8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</a:rPr>
                        <a:t>1.0000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96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98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99.6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0.9999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AdaBoost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99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99.7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0.9994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Decision Tree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98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96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99.4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0.9812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Logistic Reg.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90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95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99.97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0.9912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7490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3749040"/>
            <a:ext cx="27432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3822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</a:rPr>
              <a:t>⭐ XGBoost Dominates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14223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ROC-AUC of 1.0000 — virtually zero missed frauds. Best for production deployment.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72968" y="37490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57B9D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8"/>
          <p:cNvSpPr/>
          <p:nvPr/>
        </p:nvSpPr>
        <p:spPr>
          <a:xfrm>
            <a:off x="3172968" y="3749040"/>
            <a:ext cx="2743200" cy="54864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64408" y="3822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57B9D"/>
                </a:solidFill>
              </a:rPr>
              <a:t>🌲 Random Forest Runner-up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64408" y="414223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100% precision and ROC-AUC 0.9999 — strong alternative if XGBoost is too heavy.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71616" y="37490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5C7A3E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71616" y="3749040"/>
            <a:ext cx="2743200" cy="54864"/>
          </a:xfrm>
          <a:prstGeom prst="rect">
            <a:avLst/>
          </a:prstGeom>
          <a:solidFill>
            <a:srgbClr val="5C7A3E"/>
          </a:solidFill>
          <a:ln w="12700">
            <a:solidFill>
              <a:srgbClr val="5C7A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63056" y="3822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7A3E"/>
                </a:solidFill>
              </a:rPr>
              <a:t>📉 Logistic Regression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63056" y="414223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Lowest recall (90%) — misses too many frauds. Not suitable as sole detector.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</p:spPr>
      </p:sp>
      <p:sp>
        <p:nvSpPr>
          <p:cNvPr id="3" name="TopBar"/>
          <p:cNvSpPr/>
          <p:nvPr/>
        </p:nvSpPr>
        <p:spPr>
          <a:xfrm>
            <a:off x="109728" y="0"/>
            <a:ext cx="9034272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</a:ln>
        </p:spPr>
      </p:sp>
      <p:sp>
        <p:nvSpPr>
          <p:cNvPr id="4" name="TitleText"/>
          <p:cNvSpPr/>
          <p:nvPr/>
        </p:nvSpPr>
        <p:spPr>
          <a:xfrm>
            <a:off x="228600" y="91440"/>
            <a:ext cx="8800000" cy="54864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</a:rPr>
              <a:t>Model Performance Comparison (Fraud Class)</a:t>
            </a:r>
          </a:p>
        </p:txBody>
      </p:sp>
      <p:pic>
        <p:nvPicPr>
          <p:cNvPr id="5" name="Graph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5400000" cy="4000000"/>
          </a:xfrm>
          <a:prstGeom prst="rect">
            <a:avLst/>
          </a:prstGeom>
        </p:spPr>
      </p:pic>
      <p:sp>
        <p:nvSpPr>
          <p:cNvPr id="6" name="ExplanationBox"/>
          <p:cNvSpPr/>
          <p:nvPr/>
        </p:nvSpPr>
        <p:spPr>
          <a:xfrm>
            <a:off x="5852000" y="777240"/>
            <a:ext cx="3150000" cy="40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</a:ln>
        </p:spPr>
        <p:txBody>
          <a:bodyPr wrap="square" lIns="182880" tIns="182880" rIns="182880" bIns="182880" anchor="t"/>
          <a:lstStyle/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E63946"/>
                </a:solidFill>
              </a:rPr>
              <a:t>Key Insights</a:t>
            </a:r>
          </a:p>
          <a:p>
            <a:pPr algn="l">
              <a:spcBef>
                <a:spcPts val="200"/>
              </a:spcBef>
            </a:pPr>
            <a:r>
              <a:rPr lang="en-US" sz="200" dirty="0">
                <a:solidFill>
                  <a:srgbClr val="FFFFFF"/>
                </a:solidFill>
              </a:rPr>
              <a:t> 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XGBoost leads across all four metrics: Precision, Recall, F1-Score, and ROC-AUC.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Random Forest and AdaBoost closely follow. Logistic Regression lags in Recall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(0.90), meaning it misses more frauds. Decision Tree shows balanced but slightly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lower scores overall. XGBoost is the clear winner for production deployment.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</p:spPr>
      </p:sp>
      <p:sp>
        <p:nvSpPr>
          <p:cNvPr id="3" name="TopBar"/>
          <p:cNvSpPr/>
          <p:nvPr/>
        </p:nvSpPr>
        <p:spPr>
          <a:xfrm>
            <a:off x="109728" y="0"/>
            <a:ext cx="9034272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</a:ln>
        </p:spPr>
      </p:sp>
      <p:sp>
        <p:nvSpPr>
          <p:cNvPr id="4" name="TitleText"/>
          <p:cNvSpPr/>
          <p:nvPr/>
        </p:nvSpPr>
        <p:spPr>
          <a:xfrm>
            <a:off x="228600" y="91440"/>
            <a:ext cx="8800000" cy="54864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</a:rPr>
              <a:t>Feature Importance — Random Forest &amp; XGBoost</a:t>
            </a:r>
          </a:p>
        </p:txBody>
      </p:sp>
      <p:pic>
        <p:nvPicPr>
          <p:cNvPr id="5" name="Graph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5400000" cy="4000000"/>
          </a:xfrm>
          <a:prstGeom prst="rect">
            <a:avLst/>
          </a:prstGeom>
        </p:spPr>
      </p:pic>
      <p:sp>
        <p:nvSpPr>
          <p:cNvPr id="6" name="ExplanationBox"/>
          <p:cNvSpPr/>
          <p:nvPr/>
        </p:nvSpPr>
        <p:spPr>
          <a:xfrm>
            <a:off x="5852000" y="777240"/>
            <a:ext cx="3150000" cy="40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</a:ln>
        </p:spPr>
        <p:txBody>
          <a:bodyPr wrap="square" lIns="182880" tIns="182880" rIns="182880" bIns="182880" anchor="t"/>
          <a:lstStyle/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E63946"/>
                </a:solidFill>
              </a:rPr>
              <a:t>Key Insights</a:t>
            </a:r>
          </a:p>
          <a:p>
            <a:pPr algn="l">
              <a:spcBef>
                <a:spcPts val="200"/>
              </a:spcBef>
            </a:pPr>
            <a:r>
              <a:rPr lang="en-US" sz="200" dirty="0">
                <a:solidFill>
                  <a:srgbClr val="FFFFFF"/>
                </a:solidFill>
              </a:rPr>
              <a:t> 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Both models agree that 'step' (time of transaction) is the single most important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feature. Random Forest also weights 'balance_diff_orig' and 'amount' highly.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XGBoost concentrates importance almost entirely on 'step', with other features</a:t>
            </a:r>
          </a:p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sz="1400" b="0" dirty="0">
                <a:solidFill>
                  <a:srgbClr val="1E2D40"/>
                </a:solidFill>
              </a:rPr>
              <a:t>playing minor roles. Engineered balance-difference features prove their value.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0472"/>
            <a:ext cx="9144000" cy="804672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 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TP / FP / FN mean in plain English — and what does the model actually save?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316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Step-by-Step Breakdown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4048" y="1673352"/>
            <a:ext cx="3931920" cy="868680"/>
          </a:xfrm>
          <a:prstGeom prst="rect">
            <a:avLst/>
          </a:prstGeom>
          <a:solidFill>
            <a:srgbClr val="F0FFF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947672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7373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(TP) — Fraud Caught ✅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0025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correctly identified fraud.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~224 transactions caught out of 228 real frauds.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606040"/>
            <a:ext cx="3931920" cy="868680"/>
          </a:xfrm>
          <a:prstGeom prst="rect">
            <a:avLst/>
          </a:prstGeom>
          <a:solidFill>
            <a:srgbClr val="FFF5F5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2880360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26700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(FN) — Fraud Missed ❌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29352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that slipped through undetected.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cases missed, money lost for good.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3538728"/>
            <a:ext cx="3931920" cy="868680"/>
          </a:xfrm>
          <a:prstGeom prst="rect">
            <a:avLst/>
          </a:prstGeom>
          <a:solidFill>
            <a:srgbClr val="FFFBEB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3813048"/>
            <a:ext cx="274320" cy="274320"/>
          </a:xfrm>
          <a:prstGeom prst="ellipse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60273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(FP) — Wrong Alert ⚠️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38679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 transaction wrongly flagged.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 cases investigated unnecessarily.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4480560"/>
            <a:ext cx="3931920" cy="201168"/>
          </a:xfrm>
          <a:prstGeom prst="rect">
            <a:avLst/>
          </a:prstGeom>
          <a:solidFill>
            <a:srgbClr val="C5D5C0"/>
          </a:solidFill>
          <a:ln w="12700">
            <a:solidFill>
              <a:srgbClr val="C5D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7000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avg fraud = $1,467  |  investigation cost = $25/alert  |  recovery rate = 30%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1234440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64608" y="1316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 What This Means In Money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28032" y="1673352"/>
            <a:ext cx="3931920" cy="713232"/>
          </a:xfrm>
          <a:prstGeom prst="rect">
            <a:avLst/>
          </a:prstGeom>
          <a:solidFill>
            <a:srgbClr val="F0FFF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85232" y="17282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Recovered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85232" y="19842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224 caught × $213,191 × 2% recovery rate</a:t>
            </a:r>
          </a:p>
        </p:txBody>
      </p:sp>
      <p:sp>
        <p:nvSpPr>
          <p:cNvPr id="30" name="Text 28"/>
          <p:cNvSpPr/>
          <p:nvPr/>
        </p:nvSpPr>
        <p:spPr>
          <a:xfrm>
            <a:off x="7479792" y="18379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$955k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4828032" y="2441448"/>
            <a:ext cx="3931920" cy="713232"/>
          </a:xfrm>
          <a:prstGeom prst="rect">
            <a:avLst/>
          </a:prstGeom>
          <a:solidFill>
            <a:srgbClr val="FFF5F5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85232" y="24963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We Missed (Lost)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85232" y="275234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4 missed × $213,191 — gone forever</a:t>
            </a:r>
          </a:p>
        </p:txBody>
      </p:sp>
      <p:sp>
        <p:nvSpPr>
          <p:cNvPr id="35" name="Text 33"/>
          <p:cNvSpPr/>
          <p:nvPr/>
        </p:nvSpPr>
        <p:spPr>
          <a:xfrm>
            <a:off x="7479792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-$852k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4828032" y="3209544"/>
            <a:ext cx="3931920" cy="713232"/>
          </a:xfrm>
          <a:prstGeom prst="rect">
            <a:avLst/>
          </a:prstGeom>
          <a:solidFill>
            <a:srgbClr val="FFFBEB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85232" y="32644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from False Blocks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285232" y="3520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0 false positives × $213,191 × 0.5%</a:t>
            </a:r>
          </a:p>
        </p:txBody>
      </p:sp>
      <p:sp>
        <p:nvSpPr>
          <p:cNvPr id="40" name="Text 38"/>
          <p:cNvSpPr/>
          <p:nvPr/>
        </p:nvSpPr>
        <p:spPr>
          <a:xfrm>
            <a:off x="7479792" y="33741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900" dirty="0"/>
          </a:p>
        </p:txBody>
      </p:sp>
      <p:sp>
        <p:nvSpPr>
          <p:cNvPr id="41" name="Shape 39"/>
          <p:cNvSpPr/>
          <p:nvPr/>
        </p:nvSpPr>
        <p:spPr>
          <a:xfrm>
            <a:off x="4828032" y="3977640"/>
            <a:ext cx="393192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85232" y="40325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85232" y="42885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900" dirty="0"/>
              <a:t>$955K – $852K – $0 = net savings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79792" y="4142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$102k</a:t>
            </a:r>
            <a:endParaRPr lang="en-US" sz="1900" dirty="0"/>
          </a:p>
        </p:txBody>
      </p:sp>
      <p:sp>
        <p:nvSpPr>
          <p:cNvPr id="46" name="Shape 44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57200" y="480060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</a:rPr>
              <a:t>Without this model: $48.8M+ in undetected losses. With it: only $852K slips through — catching 98.2% of all fraud.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1B2A3B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</a:rPr>
              <a:t>🏆  Key Findings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201168" cy="20116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90472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EE2E6"/>
                </a:solidFill>
              </a:rPr>
              <a:t>XGBoost achieved ROC-AUC = 1.0000, the best performer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039112"/>
            <a:ext cx="201168" cy="20116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020824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EE2E6"/>
                </a:solidFill>
              </a:rPr>
              <a:t>balance_diff_orig is the single most powerful fraud feature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569464"/>
            <a:ext cx="201168" cy="20116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551176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EE2E6"/>
                </a:solidFill>
              </a:rPr>
              <a:t>Only TRANSFER &amp; CASH_OUT transaction types carry fraud risk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099816"/>
            <a:ext cx="201168" cy="20116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081528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Model delivers ~$102K net profit on the test set alone</a:t>
            </a:r>
          </a:p>
        </p:txBody>
      </p:sp>
      <p:sp>
        <p:nvSpPr>
          <p:cNvPr id="15" name="Shape 13"/>
          <p:cNvSpPr/>
          <p:nvPr/>
        </p:nvSpPr>
        <p:spPr>
          <a:xfrm>
            <a:off x="411480" y="3630168"/>
            <a:ext cx="201168" cy="20116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611880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EE2E6"/>
                </a:solidFill>
              </a:rPr>
              <a:t>False Negatives (missed fraud) are the costliest error type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206240" cy="1737360"/>
          </a:xfrm>
          <a:prstGeom prst="rect">
            <a:avLst/>
          </a:prstGeom>
          <a:solidFill>
            <a:srgbClr val="1B2A3B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⚠️  Limitations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8032" y="14447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</a:rPr>
              <a:t>▸  Class imbalance may affect generalization on new data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8032" y="18562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</a:rPr>
              <a:t>▸  No external test dataset for real-world validation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28032" y="22677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</a:rPr>
              <a:t>▸  Static model — fraudsters adapt over time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DBBFEC-17D0-1D96-6CDC-0E5B94EF077B}"/>
              </a:ext>
            </a:extLst>
          </p:cNvPr>
          <p:cNvSpPr/>
          <p:nvPr/>
        </p:nvSpPr>
        <p:spPr>
          <a:xfrm>
            <a:off x="0" y="1568904"/>
            <a:ext cx="9144000" cy="1323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950" b="1" dirty="0">
                <a:latin typeface="Calibri" panose="020F0502020204030204" pitchFamily="34" charset="0"/>
              </a:rPr>
              <a:t>Thank You!</a:t>
            </a:r>
            <a:endParaRPr lang="en-IN" sz="495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371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1558</TotalTime>
  <Words>1934</Words>
  <Application>Microsoft Office PowerPoint</Application>
  <PresentationFormat>On-screen Show (16:9)</PresentationFormat>
  <Paragraphs>342</Paragraphs>
  <Slides>22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Unicode MS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Detection in Mobile Financial Transactions</dc:title>
  <dc:subject>PptxGenJS Presentation</dc:subject>
  <dc:creator>PptxGenJS</dc:creator>
  <cp:lastModifiedBy>p</cp:lastModifiedBy>
  <cp:revision>21</cp:revision>
  <dcterms:created xsi:type="dcterms:W3CDTF">2026-05-20T06:20:19Z</dcterms:created>
  <dcterms:modified xsi:type="dcterms:W3CDTF">2026-05-21T16:16:45Z</dcterms:modified>
</cp:coreProperties>
</file>